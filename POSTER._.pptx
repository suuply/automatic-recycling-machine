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5"/>
  </p:notesMasterIdLst>
  <p:sldIdLst>
    <p:sldId id="256" r:id="rId5"/>
    <p:sldId id="257" r:id="rId6"/>
    <p:sldId id="263" r:id="rId7"/>
    <p:sldId id="266" r:id="rId8"/>
    <p:sldId id="267" r:id="rId9"/>
    <p:sldId id="270" r:id="rId10"/>
    <p:sldId id="268" r:id="rId11"/>
    <p:sldId id="269" r:id="rId12"/>
    <p:sldId id="265" r:id="rId13"/>
    <p:sldId id="25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호연 김" initials="호김" lastIdx="1" clrIdx="0">
    <p:extLst>
      <p:ext uri="{19B8F6BF-5375-455C-9EA6-DF929625EA0E}">
        <p15:presenceInfo xmlns:p15="http://schemas.microsoft.com/office/powerpoint/2012/main" userId="8b537eb8fc46a5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700" dirty="0"/>
              <a:t>온라인 음식서비스 월별 매출액</a:t>
            </a:r>
            <a:endParaRPr lang="en-US" altLang="ko-KR" sz="1700" dirty="0"/>
          </a:p>
        </c:rich>
      </c:tx>
      <c:layout>
        <c:manualLayout>
          <c:xMode val="edge"/>
          <c:yMode val="edge"/>
          <c:x val="0.24178567391032457"/>
          <c:y val="2.02837380853003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월별 매출액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General</c:formatCode>
                <c:ptCount val="5"/>
                <c:pt idx="0">
                  <c:v>2018.1</c:v>
                </c:pt>
                <c:pt idx="1">
                  <c:v>2019.1</c:v>
                </c:pt>
                <c:pt idx="2">
                  <c:v>2020.1</c:v>
                </c:pt>
                <c:pt idx="3">
                  <c:v>2021.1</c:v>
                </c:pt>
                <c:pt idx="4">
                  <c:v>2022.1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3475</c:v>
                </c:pt>
                <c:pt idx="1">
                  <c:v>6219</c:v>
                </c:pt>
                <c:pt idx="2">
                  <c:v>10638</c:v>
                </c:pt>
                <c:pt idx="3">
                  <c:v>20306</c:v>
                </c:pt>
                <c:pt idx="4">
                  <c:v>23886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CE-484F-B804-38E481A22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64030671"/>
        <c:axId val="1764027311"/>
      </c:lineChart>
      <c:catAx>
        <c:axId val="1764030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4027311"/>
        <c:crosses val="autoZero"/>
        <c:auto val="1"/>
        <c:lblAlgn val="ctr"/>
        <c:lblOffset val="100"/>
        <c:noMultiLvlLbl val="0"/>
      </c:catAx>
      <c:valAx>
        <c:axId val="176402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7640306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700" dirty="0"/>
              <a:t>국내 택배 물동량 및 </a:t>
            </a:r>
            <a:r>
              <a:rPr lang="en-US" altLang="ko-KR" sz="1700" dirty="0"/>
              <a:t>1</a:t>
            </a:r>
            <a:r>
              <a:rPr lang="ko-KR" altLang="en-US" sz="1700" dirty="0"/>
              <a:t>인당 연간 택배 </a:t>
            </a:r>
            <a:r>
              <a:rPr lang="ko-KR" altLang="en-US" sz="1700" dirty="0" err="1"/>
              <a:t>이용량</a:t>
            </a:r>
            <a:endParaRPr lang="ko-KR" altLang="en-US" sz="17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택배물동량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Sheet1!$A$2:$A$14</c:f>
              <c:numCache>
                <c:formatCode>0_ </c:formatCode>
                <c:ptCount val="13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</c:numCache>
            </c:numRef>
          </c:cat>
          <c:val>
            <c:numRef>
              <c:f>Sheet1!$B$2:$B$14</c:f>
              <c:numCache>
                <c:formatCode>_(* #,##0_);_(* \(#,##0\);_(* "-"_);_(@_)</c:formatCode>
                <c:ptCount val="13"/>
                <c:pt idx="0">
                  <c:v>1080</c:v>
                </c:pt>
                <c:pt idx="1">
                  <c:v>1198</c:v>
                </c:pt>
                <c:pt idx="2">
                  <c:v>1299</c:v>
                </c:pt>
                <c:pt idx="3">
                  <c:v>1405</c:v>
                </c:pt>
                <c:pt idx="4">
                  <c:v>1509</c:v>
                </c:pt>
                <c:pt idx="5">
                  <c:v>1623</c:v>
                </c:pt>
                <c:pt idx="6">
                  <c:v>1815</c:v>
                </c:pt>
                <c:pt idx="7">
                  <c:v>2046</c:v>
                </c:pt>
                <c:pt idx="8">
                  <c:v>2319</c:v>
                </c:pt>
                <c:pt idx="9">
                  <c:v>2542</c:v>
                </c:pt>
                <c:pt idx="10">
                  <c:v>2789</c:v>
                </c:pt>
                <c:pt idx="11">
                  <c:v>3373</c:v>
                </c:pt>
                <c:pt idx="12">
                  <c:v>3629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BD-4666-B2B3-DCF8530B5547}"/>
            </c:ext>
          </c:extLst>
        </c:ser>
        <c:ser>
          <c:idx val="1"/>
          <c:order val="1"/>
          <c:tx>
            <c:strRef>
              <c:f>Sheet1!$C$4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Sheet1!$A$2:$A$14</c:f>
              <c:numCache>
                <c:formatCode>0_ </c:formatCode>
                <c:ptCount val="13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</c:numCache>
            </c:numRef>
          </c:cat>
          <c:val>
            <c:numRef>
              <c:f>Sheet1!$C$2:$C$14</c:f>
              <c:numCache>
                <c:formatCode>General</c:formatCode>
                <c:ptCount val="13"/>
              </c:numCache>
            </c:numRef>
          </c:val>
          <c:extLst>
            <c:ext xmlns:c16="http://schemas.microsoft.com/office/drawing/2014/chart" uri="{C3380CC4-5D6E-409C-BE32-E72D297353CC}">
              <c16:uniqueId val="{00000001-EFBD-4666-B2B3-DCF8530B55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2891743"/>
        <c:axId val="1452893663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1인당 연간 택배 사용량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Sheet1!$A$2:$A$14</c:f>
              <c:numCache>
                <c:formatCode>0_ </c:formatCode>
                <c:ptCount val="13"/>
                <c:pt idx="0">
                  <c:v>2009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</c:v>
                </c:pt>
                <c:pt idx="7">
                  <c:v>2016</c:v>
                </c:pt>
                <c:pt idx="8">
                  <c:v>2017</c:v>
                </c:pt>
                <c:pt idx="9">
                  <c:v>2018</c:v>
                </c:pt>
                <c:pt idx="10">
                  <c:v>2019</c:v>
                </c:pt>
                <c:pt idx="11">
                  <c:v>2020</c:v>
                </c:pt>
                <c:pt idx="12">
                  <c:v>2021</c:v>
                </c:pt>
              </c:numCache>
            </c:numRef>
          </c:cat>
          <c:val>
            <c:numRef>
              <c:f>Sheet1!$D$2:$D$14</c:f>
              <c:numCache>
                <c:formatCode>0.0_ </c:formatCode>
                <c:ptCount val="13"/>
                <c:pt idx="0">
                  <c:v>21.7</c:v>
                </c:pt>
                <c:pt idx="1">
                  <c:v>23.7</c:v>
                </c:pt>
                <c:pt idx="2">
                  <c:v>25.6</c:v>
                </c:pt>
                <c:pt idx="3">
                  <c:v>27.6</c:v>
                </c:pt>
                <c:pt idx="4">
                  <c:v>29.5</c:v>
                </c:pt>
                <c:pt idx="5">
                  <c:v>31.6</c:v>
                </c:pt>
                <c:pt idx="6">
                  <c:v>35.200000000000003</c:v>
                </c:pt>
                <c:pt idx="7">
                  <c:v>39.6</c:v>
                </c:pt>
                <c:pt idx="8">
                  <c:v>44.8</c:v>
                </c:pt>
                <c:pt idx="9">
                  <c:v>49.1</c:v>
                </c:pt>
                <c:pt idx="10">
                  <c:v>53.8</c:v>
                </c:pt>
                <c:pt idx="11">
                  <c:v>65.099999999999994</c:v>
                </c:pt>
                <c:pt idx="12">
                  <c:v>70.3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BD-4666-B2B3-DCF8530B55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39307999"/>
        <c:axId val="1639305599"/>
      </c:lineChart>
      <c:catAx>
        <c:axId val="1452891743"/>
        <c:scaling>
          <c:orientation val="minMax"/>
        </c:scaling>
        <c:delete val="0"/>
        <c:axPos val="b"/>
        <c:numFmt formatCode="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2893663"/>
        <c:crosses val="autoZero"/>
        <c:auto val="1"/>
        <c:lblAlgn val="ctr"/>
        <c:lblOffset val="100"/>
        <c:noMultiLvlLbl val="0"/>
      </c:catAx>
      <c:valAx>
        <c:axId val="1452893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2891743"/>
        <c:crosses val="autoZero"/>
        <c:crossBetween val="between"/>
      </c:valAx>
      <c:valAx>
        <c:axId val="1639305599"/>
        <c:scaling>
          <c:orientation val="minMax"/>
        </c:scaling>
        <c:delete val="0"/>
        <c:axPos val="r"/>
        <c:numFmt formatCode="0.0_ 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39307999"/>
        <c:crosses val="max"/>
        <c:crossBetween val="between"/>
      </c:valAx>
      <c:catAx>
        <c:axId val="1639307999"/>
        <c:scaling>
          <c:orientation val="minMax"/>
        </c:scaling>
        <c:delete val="1"/>
        <c:axPos val="b"/>
        <c:numFmt formatCode="0_ " sourceLinked="1"/>
        <c:majorTickMark val="out"/>
        <c:minorTickMark val="none"/>
        <c:tickLblPos val="nextTo"/>
        <c:crossAx val="16393055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700" dirty="0"/>
              <a:t>코로나</a:t>
            </a:r>
            <a:r>
              <a:rPr lang="en-US" altLang="ko-KR" sz="1700" dirty="0"/>
              <a:t>19</a:t>
            </a:r>
            <a:r>
              <a:rPr lang="ko-KR" altLang="en-US" sz="1700" dirty="0"/>
              <a:t> 이전 대비 환경문제 변화수준</a:t>
            </a:r>
            <a:r>
              <a:rPr lang="en-US" altLang="ko-KR" sz="1700" dirty="0"/>
              <a:t>, 2021</a:t>
            </a:r>
            <a:endParaRPr lang="ko-KR" altLang="en-US" sz="17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악화됨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쓰레기/폐기물/자원순환 문제</c:v>
                </c:pt>
                <c:pt idx="1">
                  <c:v>지구온난화/기후변화</c:v>
                </c:pt>
                <c:pt idx="2">
                  <c:v>에너지 문제</c:v>
                </c:pt>
                <c:pt idx="3">
                  <c:v>실내 공기 오염</c:v>
                </c:pt>
                <c:pt idx="4">
                  <c:v>화학물질/제품으로 인한 피해</c:v>
                </c:pt>
                <c:pt idx="5">
                  <c:v>대기오염/미세먼지 문제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49.3</c:v>
                </c:pt>
                <c:pt idx="1">
                  <c:v>39.799999999999997</c:v>
                </c:pt>
                <c:pt idx="2">
                  <c:v>32.9</c:v>
                </c:pt>
                <c:pt idx="3">
                  <c:v>27.5</c:v>
                </c:pt>
                <c:pt idx="4">
                  <c:v>31.2</c:v>
                </c:pt>
                <c:pt idx="5">
                  <c:v>24.6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78-447D-A95E-03487E4CEF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변화없음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쓰레기/폐기물/자원순환 문제</c:v>
                </c:pt>
                <c:pt idx="1">
                  <c:v>지구온난화/기후변화</c:v>
                </c:pt>
                <c:pt idx="2">
                  <c:v>에너지 문제</c:v>
                </c:pt>
                <c:pt idx="3">
                  <c:v>실내 공기 오염</c:v>
                </c:pt>
                <c:pt idx="4">
                  <c:v>화학물질/제품으로 인한 피해</c:v>
                </c:pt>
                <c:pt idx="5">
                  <c:v>대기오염/미세먼지 문제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34.5</c:v>
                </c:pt>
                <c:pt idx="1">
                  <c:v>43.1</c:v>
                </c:pt>
                <c:pt idx="2">
                  <c:v>50.5</c:v>
                </c:pt>
                <c:pt idx="3">
                  <c:v>42.1</c:v>
                </c:pt>
                <c:pt idx="4">
                  <c:v>54.2</c:v>
                </c:pt>
                <c:pt idx="5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78-447D-A95E-03487E4CEF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개선됨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쓰레기/폐기물/자원순환 문제</c:v>
                </c:pt>
                <c:pt idx="1">
                  <c:v>지구온난화/기후변화</c:v>
                </c:pt>
                <c:pt idx="2">
                  <c:v>에너지 문제</c:v>
                </c:pt>
                <c:pt idx="3">
                  <c:v>실내 공기 오염</c:v>
                </c:pt>
                <c:pt idx="4">
                  <c:v>화학물질/제품으로 인한 피해</c:v>
                </c:pt>
                <c:pt idx="5">
                  <c:v>대기오염/미세먼지 문제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16.2</c:v>
                </c:pt>
                <c:pt idx="1">
                  <c:v>17.100000000000001</c:v>
                </c:pt>
                <c:pt idx="2">
                  <c:v>16.600000000000001</c:v>
                </c:pt>
                <c:pt idx="3">
                  <c:v>30.4</c:v>
                </c:pt>
                <c:pt idx="4">
                  <c:v>14.6</c:v>
                </c:pt>
                <c:pt idx="5">
                  <c:v>39.4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78-447D-A95E-03487E4CEF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55942319"/>
        <c:axId val="1455946639"/>
      </c:barChart>
      <c:catAx>
        <c:axId val="1455942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5946639"/>
        <c:crosses val="autoZero"/>
        <c:auto val="1"/>
        <c:lblAlgn val="ctr"/>
        <c:lblOffset val="100"/>
        <c:noMultiLvlLbl val="0"/>
      </c:catAx>
      <c:valAx>
        <c:axId val="14559466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559423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700" b="0" dirty="0"/>
              <a:t>분리수거 실천 현황 조사</a:t>
            </a:r>
            <a:endParaRPr lang="en-US" sz="1700" b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청년 분리수거 실태 조사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E6D8-4D92-BDBA-9FA5CFD3F640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6D8-4D92-BDBA-9FA5CFD3F640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E6D8-4D92-BDBA-9FA5CFD3F640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6D8-4D92-BDBA-9FA5CFD3F640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4F8C-4792-ACEA-0CB980851C4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ADDF95D-7A12-4113-910D-11D9D6B5CD47}" type="PERCENTAGE">
                      <a:rPr lang="en-US" altLang="ko-KR" sz="1400"/>
                      <a:pPr/>
                      <a:t>[백분율]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6D8-4D92-BDBA-9FA5CFD3F64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76F50F1-1CE4-4722-BC62-D66BB6ECCE42}" type="PERCENTAGE">
                      <a:rPr lang="en-US" altLang="ko-KR" sz="1800"/>
                      <a:pPr/>
                      <a:t>[백분율]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6D8-4D92-BDBA-9FA5CFD3F64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5875A9B-A274-4C2C-A747-1083233D507E}" type="PERCENTAGE">
                      <a:rPr lang="en-US" altLang="ko-KR" sz="2000"/>
                      <a:pPr/>
                      <a:t>[백분율]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E6D8-4D92-BDBA-9FA5CFD3F64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674DA3C-1C1B-4B7D-9DF0-B599D18573A1}" type="PERCENTAGE">
                      <a:rPr lang="en-US" altLang="ko-KR" sz="1600"/>
                      <a:pPr/>
                      <a:t>[백분율]</a:t>
                    </a:fld>
                    <a:endParaRPr lang="ko-KR" alt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6D8-4D92-BDBA-9FA5CFD3F64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상</c:v>
                </c:pt>
                <c:pt idx="1">
                  <c:v>중상</c:v>
                </c:pt>
                <c:pt idx="2">
                  <c:v>중</c:v>
                </c:pt>
                <c:pt idx="3">
                  <c:v>중하</c:v>
                </c:pt>
                <c:pt idx="4">
                  <c:v>하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11.5</c:v>
                </c:pt>
                <c:pt idx="1">
                  <c:v>25</c:v>
                </c:pt>
                <c:pt idx="2">
                  <c:v>44.2</c:v>
                </c:pt>
                <c:pt idx="3">
                  <c:v>13.5</c:v>
                </c:pt>
                <c:pt idx="4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D8-4D92-BDBA-9FA5CFD3F640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0.00479</cdr:x>
      <cdr:y>0.10485</cdr:y>
    </cdr:from>
    <cdr:to>
      <cdr:x>0.12614</cdr:x>
      <cdr:y>0.17644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AA9ED2EB-1D8A-677F-BFA7-1C505DDFF054}"/>
            </a:ext>
          </a:extLst>
        </cdr:cNvPr>
        <cdr:cNvSpPr txBox="1"/>
      </cdr:nvSpPr>
      <cdr:spPr>
        <a:xfrm xmlns:a="http://schemas.openxmlformats.org/drawingml/2006/main">
          <a:off x="22138" y="348256"/>
          <a:ext cx="560832" cy="23774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altLang="ko-KR" sz="900" kern="1200" dirty="0"/>
            <a:t>(1</a:t>
          </a:r>
          <a:r>
            <a:rPr lang="ko-KR" altLang="en-US" sz="900" kern="1200" dirty="0"/>
            <a:t>억원</a:t>
          </a:r>
          <a:r>
            <a:rPr lang="en-US" altLang="ko-KR" sz="900" kern="1200" dirty="0"/>
            <a:t>)</a:t>
          </a:r>
          <a:endParaRPr lang="ko-KR" altLang="en-US" sz="9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7A0C0C-B3B6-4E1A-B64A-4E92CE92699B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64EF8-EBDA-4D65-8C61-890A0205B0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26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545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9B14-E47F-F856-0DAD-08B336BF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6F03B9-AD20-C9CD-4581-B9E47EFA8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912229-CE0B-FAF9-534F-166139C41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8B13EE-4167-C7C1-F21A-5657CFC2B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878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1CD6-757E-A8AE-CA61-8BCB299C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95D87-38EF-130F-775E-25A0728CD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C00197-10CC-A253-7E8E-9F03FFD6D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2CA653-EA1F-5CC9-29F1-CAE604451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520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89B5-C67D-D57A-3CFB-07A0DF22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68BA54-10C8-67C2-8C9A-39CABDDE2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3E1474-8B6D-EB84-8D05-906C5F0F0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00C638-B120-78FD-BA4B-94BD034CB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378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7F1F-A339-8085-0D11-F0A4EFCC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24DB85-F390-C9ED-85EB-5DA8E36B2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8D69F6-4AA8-6A23-C2B2-D57B6D0FB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8942C1-DE90-30CF-EBDC-2137759BD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606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4C379-E36D-ADCC-DBA8-AEB7E8B0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603A4E-AD7B-0419-C29E-19C9C2494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10F348-C7E2-D21E-8020-8A88E1C66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6951D-E74B-485A-67A3-EBF81D735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896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56F0-9E69-6FFF-8FC4-236342C12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162916-856A-C703-05FB-46E39A4FF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EB0903-CE97-1E9A-F97B-39DD6CC9D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36D04D-D585-6485-6541-9B6580AEB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312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F0B3-6D11-10B0-0DEF-0FA85ED9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A8FC1A-BF64-5A56-A158-80BED1ABF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F9A67D-993B-E083-99ED-123126F3E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5AE039-731E-AE38-82FC-1DB2A5629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824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7BC16-7134-46CA-C613-782DADA56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F677B3-925B-A6AB-A275-5FB8CC21A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E44249-81E0-18C1-2261-907F454CD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EED38E-C148-920B-A77C-146A3B30D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118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21BE-7C59-B8DA-32AA-7950551D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5C2D98-2BD7-6FBA-A330-711528643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C353A-9C99-4366-9F71-950680995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507AC8-24CF-F83C-279C-3B2C8C15F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4EF8-EBDA-4D65-8C61-890A0205B0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452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72584-B3D8-4DCA-9D64-C84DB91AE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49686B-9D9F-15C5-51EF-F38C557E8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0C08B3-E0D7-3C2A-221B-191D1A66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B6799E-A86F-5AD4-C36A-5D7FC1B9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AF7D41-A1FF-D994-491B-718F742B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53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AFD5ED-4E31-B668-377A-13C8A0FBC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462C17-0912-2AB2-E4FC-BE8E3FEA1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140A2-F0FB-345C-ADA1-9FE26A62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1E854-F399-FAE8-ADE4-261CF31E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716CC5-76A0-9851-AD1B-DD8CC4A4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78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3F47EA-D6CA-62B0-6DB4-87B81758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AFE92F-75AE-B8E0-D917-76F435FB8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52711-6A97-1B31-92BF-4FC593807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6B9850-62FF-45E6-EF8C-495875A8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6BC83-9B38-20F4-6BEF-C2BA0CACA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01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7FF016-BB8E-552B-A19F-0348E865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E19DB4-C6D2-E99F-044A-4A8C59E8F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AF8D60-A3EC-C1C2-4F45-FED35BFF0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00FE0F-1D5B-37BA-5001-B5C10871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0C1906-ABA6-00C0-E056-12EBABE5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E66069-BFA3-C5BE-DBA7-D7D2B9EE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06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A93D8-EFC1-AB14-9D67-82D4FC43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5CBBCE-35D4-91F3-E4D0-582B5CA80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6F25DB-09E8-9258-44FF-43017419F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BDE80F-D7DE-BB65-1508-84F058433A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1753E1-C8E7-B028-FDCF-938069C46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1B4AC2-7DEF-0A5B-C2A5-FD8F5C777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ACBF81-6A54-EF44-7B2B-4B39D913A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FB0B0C-CB9E-26C0-8555-A7A5F680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94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11686B-D677-5B31-7BF4-37E21BED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AABDBA-134F-D7C4-5FA8-0815027C4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864233-AFE7-DC2D-29AE-E6B551A7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AADF7A-AC60-73F7-DCDE-1DCB8B92B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89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AC8823-80F3-6B10-5632-CD4FC23E6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10F7D03-9C32-CA96-8568-97255D63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E7A7A5-D710-777B-CBBE-AC4C30A1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88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211AD-6468-0C8F-C5B7-0C1C3A111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06659B-0ED4-5A89-0926-7E15DD023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1B7F1B-D170-0CE8-CE63-78481E422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5465C0-7467-BEEC-F2C2-17104323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27C692-793F-CFD6-EC63-3A1322834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DA8D8B-35BE-4763-B82C-16A5940A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822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6140C-B819-BB6F-CECA-1D97FFD9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E9C65C-E2C9-5706-B8C8-E65FBA7CC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C24F74-08AF-A209-371E-56DFB05EE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95FB73-0751-59C4-43F0-66A1BB05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C391BF-90AD-E3D8-EBF3-56289A04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F169A9-31D6-5FFB-CD82-08F1075D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76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BBBB5-FE9F-0641-3DF1-BA86C79E2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3AC9C7-DC62-6297-4AE9-E9088FA91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8F9540-A569-23F6-788B-206CF184E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02A2-F95E-BC1B-B94E-5F675AEA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65B6CD-19F5-9E48-F1C1-C3E02DE1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30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D03A79-B203-B22F-4C2F-3A714B21AB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A5D81D-B74F-00AC-FC26-CD5C8EB75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F35E52-876D-5B1D-3B51-AB5097C9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548EFF-5375-4242-2603-2C06466C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BB535D-74CC-BDD9-868D-515F451CC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10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A3D20AE-5DBD-1E29-990E-A76228A40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6A22C8-E6D8-D79A-303C-4EA453BD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3CE05-025C-47E9-0AAE-292A9DC4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23B14-23CA-46CD-9ACB-0B8992E7DA39}" type="datetimeFigureOut">
              <a:rPr lang="ko-KR" altLang="en-US" smtClean="0"/>
              <a:t>2024-11-28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C9D53C-3677-29FE-FFDA-C79308E87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838D79-413B-746D-EBD2-598D0BDAE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56C08-A22B-4D27-9FE7-E2C49BEF0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6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29A3D5-B43E-B53A-1D68-BD522D8017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5A387-A791-D18E-60EB-400E72B3CF31}"/>
              </a:ext>
            </a:extLst>
          </p:cNvPr>
          <p:cNvSpPr txBox="1"/>
          <p:nvPr/>
        </p:nvSpPr>
        <p:spPr>
          <a:xfrm>
            <a:off x="385011" y="457201"/>
            <a:ext cx="3477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703EC-CFC4-0622-3E8B-1C4DB780A7AD}"/>
              </a:ext>
            </a:extLst>
          </p:cNvPr>
          <p:cNvSpPr txBox="1"/>
          <p:nvPr/>
        </p:nvSpPr>
        <p:spPr>
          <a:xfrm>
            <a:off x="3045492" y="742331"/>
            <a:ext cx="609700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kern="0" spc="-70" dirty="0">
                <a:solidFill>
                  <a:srgbClr val="000000"/>
                </a:solidFill>
                <a:effectLst/>
                <a:latin typeface="+mj-ea"/>
                <a:ea typeface="+mj-ea"/>
              </a:rPr>
              <a:t>딥러닝 기반 실시간 쓰레기 분류 시스템의 개발 및 평가</a:t>
            </a:r>
            <a:endParaRPr lang="ko-KR" altLang="en-US" sz="3500" kern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8" name="Picture 4" descr="My Bright Future 동서대학교">
            <a:extLst>
              <a:ext uri="{FF2B5EF4-FFF2-40B4-BE49-F238E27FC236}">
                <a16:creationId xmlns:a16="http://schemas.microsoft.com/office/drawing/2014/main" id="{91BED360-AC3E-D5B4-C9D2-CC6779EEC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3916" y="6234718"/>
            <a:ext cx="1122834" cy="359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875BA0F9-B8E3-66FF-1DBE-5F914A373E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00" y="6211568"/>
            <a:ext cx="883793" cy="388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0AE1B9-F901-E59D-D7DD-EE853E291DD5}"/>
              </a:ext>
            </a:extLst>
          </p:cNvPr>
          <p:cNvSpPr txBox="1"/>
          <p:nvPr/>
        </p:nvSpPr>
        <p:spPr>
          <a:xfrm>
            <a:off x="461777" y="1951247"/>
            <a:ext cx="1125931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kern="0" spc="-5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Development and Evaluation of a Deep Learning-Based Real-Time Waste Classification System</a:t>
            </a:r>
            <a:endParaRPr lang="en-US" altLang="ko-KR" sz="20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604169-01D2-656A-31C3-DEDDF3A23E16}"/>
              </a:ext>
            </a:extLst>
          </p:cNvPr>
          <p:cNvSpPr txBox="1"/>
          <p:nvPr/>
        </p:nvSpPr>
        <p:spPr>
          <a:xfrm>
            <a:off x="2245240" y="3429000"/>
            <a:ext cx="776697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>
                <a:latin typeface="+mj-ea"/>
                <a:ea typeface="+mj-ea"/>
              </a:rPr>
              <a:t>김호연</a:t>
            </a:r>
            <a:r>
              <a:rPr lang="en-US" altLang="ko-KR" sz="1800" b="1" kern="0" spc="-6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en-US" altLang="ko-KR" b="1" dirty="0">
                <a:latin typeface="+mj-ea"/>
                <a:ea typeface="+mj-ea"/>
              </a:rPr>
              <a:t>, </a:t>
            </a:r>
            <a:r>
              <a:rPr lang="ko-KR" altLang="en-US" b="1" dirty="0">
                <a:latin typeface="+mj-ea"/>
                <a:ea typeface="+mj-ea"/>
              </a:rPr>
              <a:t>기준성</a:t>
            </a:r>
            <a:r>
              <a:rPr lang="en-US" altLang="ko-KR" sz="1800" b="1" kern="0" spc="-6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en-US" altLang="ko-KR" b="1" dirty="0">
                <a:latin typeface="+mj-ea"/>
                <a:ea typeface="+mj-ea"/>
              </a:rPr>
              <a:t>, </a:t>
            </a:r>
            <a:r>
              <a:rPr lang="ko-KR" altLang="en-US" b="1" dirty="0">
                <a:latin typeface="+mj-ea"/>
                <a:ea typeface="+mj-ea"/>
              </a:rPr>
              <a:t>박예준</a:t>
            </a:r>
            <a:r>
              <a:rPr lang="en-US" altLang="ko-KR" sz="1800" b="1" kern="0" spc="-6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en-US" altLang="ko-KR" b="1" dirty="0">
                <a:latin typeface="+mj-ea"/>
                <a:ea typeface="+mj-ea"/>
              </a:rPr>
              <a:t>, </a:t>
            </a:r>
            <a:r>
              <a:rPr lang="ko-KR" altLang="en-US" b="1" dirty="0" err="1">
                <a:latin typeface="+mj-ea"/>
                <a:ea typeface="+mj-ea"/>
              </a:rPr>
              <a:t>강유권</a:t>
            </a:r>
            <a:r>
              <a:rPr lang="en-US" altLang="ko-KR" sz="1800" b="1" kern="0" spc="-6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</a:t>
            </a:r>
            <a:r>
              <a:rPr lang="ko-KR" altLang="en-US" sz="1800" b="1" kern="0" spc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정도운</a:t>
            </a:r>
            <a:r>
              <a:rPr lang="en-US" altLang="ko-KR" sz="1800" b="1" kern="0" spc="-6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1*</a:t>
            </a:r>
            <a:endParaRPr lang="en-US" altLang="ko-KR" b="1" dirty="0">
              <a:latin typeface="+mj-ea"/>
              <a:ea typeface="+mj-ea"/>
            </a:endParaRPr>
          </a:p>
          <a:p>
            <a:pPr algn="ctr"/>
            <a:endParaRPr lang="en-US" altLang="ko-KR" b="1" dirty="0">
              <a:latin typeface="+mj-ea"/>
              <a:ea typeface="+mj-ea"/>
            </a:endParaRPr>
          </a:p>
          <a:p>
            <a:pPr algn="ctr"/>
            <a:r>
              <a:rPr lang="en-US" altLang="ko-KR" sz="1800" b="1" kern="0" spc="-60" baseline="30000" dirty="0">
                <a:solidFill>
                  <a:srgbClr val="000000"/>
                </a:solidFill>
                <a:effectLst/>
                <a:latin typeface="+mn-ea"/>
              </a:rPr>
              <a:t>1</a:t>
            </a:r>
            <a:r>
              <a:rPr lang="ko-KR" altLang="en-US" b="1" dirty="0">
                <a:latin typeface="+mj-ea"/>
                <a:ea typeface="+mj-ea"/>
              </a:rPr>
              <a:t>동서대학교 인공지능응용학과</a:t>
            </a:r>
            <a:endParaRPr lang="en-US" altLang="ko-KR" b="1" dirty="0">
              <a:latin typeface="+mj-ea"/>
              <a:ea typeface="+mj-ea"/>
            </a:endParaRPr>
          </a:p>
          <a:p>
            <a:pPr algn="ctr"/>
            <a:endParaRPr lang="en-US" altLang="ko-KR" b="1" dirty="0">
              <a:latin typeface="+mj-ea"/>
              <a:ea typeface="+mj-ea"/>
            </a:endParaRPr>
          </a:p>
          <a:p>
            <a:pPr algn="ctr"/>
            <a:r>
              <a:rPr lang="en-US" altLang="ko-KR" sz="1700" b="1" kern="0" spc="-60" dirty="0">
                <a:solidFill>
                  <a:srgbClr val="000000"/>
                </a:solidFill>
                <a:effectLst/>
                <a:latin typeface="+mj-ea"/>
                <a:ea typeface="+mj-ea"/>
              </a:rPr>
              <a:t>Ho-Yeon Kim</a:t>
            </a:r>
            <a:r>
              <a:rPr lang="en-US" altLang="ko-KR" sz="1700" b="1" kern="0" spc="-6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en-US" altLang="ko-KR" sz="1700" b="1" kern="0" spc="-6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Jun-Sung Ki</a:t>
            </a:r>
            <a:r>
              <a:rPr lang="en-US" altLang="ko-KR" sz="1700" b="1" kern="0" spc="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en-US" altLang="ko-KR" sz="1700" b="1" kern="0" spc="-6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Ye-Jun Park</a:t>
            </a:r>
            <a:r>
              <a:rPr lang="en-US" altLang="ko-KR" sz="1700" b="1" kern="0" spc="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en-US" altLang="ko-KR" sz="1700" b="1" kern="0" spc="-6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Yoo-Kwon Kang</a:t>
            </a:r>
            <a:r>
              <a:rPr lang="en-US" altLang="ko-KR" sz="1700" b="1" kern="0" spc="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</a:t>
            </a:r>
            <a:r>
              <a:rPr lang="en-US" altLang="ko-KR" sz="1700" b="1" kern="0" spc="-60" dirty="0">
                <a:solidFill>
                  <a:srgbClr val="000000"/>
                </a:solidFill>
                <a:effectLst/>
                <a:latin typeface="+mj-ea"/>
                <a:ea typeface="+mj-ea"/>
              </a:rPr>
              <a:t>, Do-Un Jeong</a:t>
            </a:r>
            <a:r>
              <a:rPr lang="en-US" altLang="ko-KR" sz="1700" b="1" kern="0" spc="-60" baseline="30000" dirty="0">
                <a:solidFill>
                  <a:srgbClr val="000000"/>
                </a:solidFill>
                <a:effectLst/>
                <a:latin typeface="+mj-ea"/>
                <a:ea typeface="+mj-ea"/>
              </a:rPr>
              <a:t>1*</a:t>
            </a:r>
            <a:endParaRPr lang="en-US" altLang="ko-KR" sz="1700" b="1" dirty="0">
              <a:latin typeface="+mj-ea"/>
              <a:ea typeface="+mj-ea"/>
            </a:endParaRPr>
          </a:p>
          <a:p>
            <a:pPr algn="ctr"/>
            <a:r>
              <a:rPr lang="en-US" altLang="ko-KR" sz="1700" b="1" kern="0" spc="-50" dirty="0">
                <a:solidFill>
                  <a:srgbClr val="000000"/>
                </a:solidFill>
                <a:effectLst/>
                <a:latin typeface="+mj-ea"/>
                <a:ea typeface="+mj-ea"/>
              </a:rPr>
              <a:t>Department of Applied Artificial Intelligence, </a:t>
            </a:r>
            <a:r>
              <a:rPr lang="en-US" altLang="ko-KR" sz="1700" b="1" kern="0" spc="-5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Dongseo</a:t>
            </a:r>
            <a:r>
              <a:rPr lang="en-US" altLang="ko-KR" sz="1700" b="1" kern="0" spc="-5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University</a:t>
            </a:r>
            <a:endParaRPr lang="en-US" altLang="ko-KR" sz="1700" b="1" kern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196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BE6CE-D553-9486-A885-7584A1869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7B741BF-5E69-7AD6-A16E-8C6C09FE4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B04A69DB-BCCF-A67C-67E9-995F8D1024B7}"/>
              </a:ext>
            </a:extLst>
          </p:cNvPr>
          <p:cNvSpPr/>
          <p:nvPr/>
        </p:nvSpPr>
        <p:spPr>
          <a:xfrm>
            <a:off x="210553" y="733925"/>
            <a:ext cx="535405" cy="445169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4664D1-2137-1210-D5C1-2FFA9DACAE27}"/>
              </a:ext>
            </a:extLst>
          </p:cNvPr>
          <p:cNvSpPr txBox="1"/>
          <p:nvPr/>
        </p:nvSpPr>
        <p:spPr>
          <a:xfrm>
            <a:off x="745958" y="664121"/>
            <a:ext cx="240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+mj-ea"/>
                <a:ea typeface="+mj-ea"/>
              </a:rPr>
              <a:t>서론</a:t>
            </a:r>
          </a:p>
        </p:txBody>
      </p:sp>
      <p:graphicFrame>
        <p:nvGraphicFramePr>
          <p:cNvPr id="29" name="차트 28">
            <a:extLst>
              <a:ext uri="{FF2B5EF4-FFF2-40B4-BE49-F238E27FC236}">
                <a16:creationId xmlns:a16="http://schemas.microsoft.com/office/drawing/2014/main" id="{B8826E30-9CBC-93F4-F21C-C86DA86F0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5348174"/>
              </p:ext>
            </p:extLst>
          </p:nvPr>
        </p:nvGraphicFramePr>
        <p:xfrm>
          <a:off x="349771" y="1550648"/>
          <a:ext cx="5325026" cy="3756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4" name="차트 43">
            <a:extLst>
              <a:ext uri="{FF2B5EF4-FFF2-40B4-BE49-F238E27FC236}">
                <a16:creationId xmlns:a16="http://schemas.microsoft.com/office/drawing/2014/main" id="{57A21FD2-900D-B48D-7F7A-961B714426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9397427"/>
              </p:ext>
            </p:extLst>
          </p:nvPr>
        </p:nvGraphicFramePr>
        <p:xfrm>
          <a:off x="5733534" y="1550648"/>
          <a:ext cx="6108695" cy="3756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8A8C37F-20C6-F717-DD88-F4B871416451}"/>
              </a:ext>
            </a:extLst>
          </p:cNvPr>
          <p:cNvSpPr txBox="1"/>
          <p:nvPr/>
        </p:nvSpPr>
        <p:spPr>
          <a:xfrm>
            <a:off x="5674797" y="1857085"/>
            <a:ext cx="7335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dirty="0">
                <a:latin typeface="+mj-ea"/>
                <a:ea typeface="+mj-ea"/>
              </a:rPr>
              <a:t>택배 물동량</a:t>
            </a:r>
            <a:endParaRPr lang="en-US" altLang="ko-KR" sz="700" dirty="0">
              <a:latin typeface="+mj-ea"/>
              <a:ea typeface="+mj-ea"/>
            </a:endParaRPr>
          </a:p>
          <a:p>
            <a:pPr algn="ctr"/>
            <a:r>
              <a:rPr lang="en-US" altLang="ko-KR" sz="700" dirty="0">
                <a:latin typeface="+mj-ea"/>
                <a:ea typeface="+mj-ea"/>
              </a:rPr>
              <a:t>(100</a:t>
            </a:r>
            <a:r>
              <a:rPr lang="ko-KR" altLang="en-US" sz="700" dirty="0">
                <a:latin typeface="+mj-ea"/>
                <a:ea typeface="+mj-ea"/>
              </a:rPr>
              <a:t>만 박스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  <a:endParaRPr lang="ko-KR" altLang="en-US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574122-99EF-B5FE-E79B-C43686FBD444}"/>
              </a:ext>
            </a:extLst>
          </p:cNvPr>
          <p:cNvSpPr txBox="1"/>
          <p:nvPr/>
        </p:nvSpPr>
        <p:spPr>
          <a:xfrm>
            <a:off x="11043724" y="1759233"/>
            <a:ext cx="10180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>
                <a:latin typeface="+mj-ea"/>
                <a:ea typeface="+mj-ea"/>
              </a:rPr>
              <a:t>1</a:t>
            </a:r>
            <a:r>
              <a:rPr lang="ko-KR" altLang="en-US" sz="700" dirty="0">
                <a:latin typeface="+mj-ea"/>
                <a:ea typeface="+mj-ea"/>
              </a:rPr>
              <a:t>인당 연간</a:t>
            </a:r>
            <a:endParaRPr lang="en-US" altLang="ko-KR" sz="700" dirty="0">
              <a:latin typeface="+mj-ea"/>
              <a:ea typeface="+mj-ea"/>
            </a:endParaRPr>
          </a:p>
          <a:p>
            <a:pPr algn="ctr"/>
            <a:r>
              <a:rPr lang="ko-KR" altLang="en-US" sz="700" dirty="0">
                <a:latin typeface="+mj-ea"/>
                <a:ea typeface="+mj-ea"/>
              </a:rPr>
              <a:t>택배 </a:t>
            </a:r>
            <a:r>
              <a:rPr lang="ko-KR" altLang="en-US" sz="700" dirty="0" err="1">
                <a:latin typeface="+mj-ea"/>
                <a:ea typeface="+mj-ea"/>
              </a:rPr>
              <a:t>이용량</a:t>
            </a:r>
            <a:endParaRPr lang="en-US" altLang="ko-KR" sz="700" dirty="0">
              <a:latin typeface="+mj-ea"/>
              <a:ea typeface="+mj-ea"/>
            </a:endParaRPr>
          </a:p>
          <a:p>
            <a:pPr algn="ctr"/>
            <a:r>
              <a:rPr lang="en-US" altLang="ko-KR" sz="700" dirty="0">
                <a:latin typeface="+mj-ea"/>
                <a:ea typeface="+mj-ea"/>
              </a:rPr>
              <a:t>(</a:t>
            </a:r>
            <a:r>
              <a:rPr lang="ko-KR" altLang="en-US" sz="700" dirty="0">
                <a:latin typeface="+mj-ea"/>
                <a:ea typeface="+mj-ea"/>
              </a:rPr>
              <a:t>박스</a:t>
            </a:r>
            <a:r>
              <a:rPr lang="en-US" altLang="ko-KR" sz="700" dirty="0">
                <a:latin typeface="+mj-ea"/>
                <a:ea typeface="+mj-ea"/>
              </a:rPr>
              <a:t>)</a:t>
            </a:r>
          </a:p>
          <a:p>
            <a:endParaRPr lang="ko-KR" alt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A8DDC-C883-947E-B1F6-80F52DDB3089}"/>
              </a:ext>
            </a:extLst>
          </p:cNvPr>
          <p:cNvSpPr txBox="1"/>
          <p:nvPr/>
        </p:nvSpPr>
        <p:spPr>
          <a:xfrm>
            <a:off x="349771" y="5119424"/>
            <a:ext cx="20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자료</a:t>
            </a:r>
            <a:r>
              <a:rPr lang="en-US" altLang="ko-KR" sz="1200" dirty="0"/>
              <a:t>: </a:t>
            </a:r>
            <a:r>
              <a:rPr lang="ko-KR" altLang="en-US" sz="1200" dirty="0"/>
              <a:t>통계청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AF20BB-2123-9EDD-BBF9-7952FACBA8DE}"/>
              </a:ext>
            </a:extLst>
          </p:cNvPr>
          <p:cNvSpPr txBox="1"/>
          <p:nvPr/>
        </p:nvSpPr>
        <p:spPr>
          <a:xfrm>
            <a:off x="210553" y="5835542"/>
            <a:ext cx="1177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코로나 이후 배달음식 서비스와 택배 물동량이 급증함</a:t>
            </a:r>
          </a:p>
        </p:txBody>
      </p:sp>
    </p:spTree>
    <p:extLst>
      <p:ext uri="{BB962C8B-B14F-4D97-AF65-F5344CB8AC3E}">
        <p14:creationId xmlns:p14="http://schemas.microsoft.com/office/powerpoint/2010/main" val="220416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599D0-B69A-1DDE-499A-8B2B91CD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52A7AD2-D8EA-EC93-6461-9F1EC31B3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8F0DEE01-CA9F-5EBC-5898-660946C1B0DD}"/>
              </a:ext>
            </a:extLst>
          </p:cNvPr>
          <p:cNvSpPr/>
          <p:nvPr/>
        </p:nvSpPr>
        <p:spPr>
          <a:xfrm>
            <a:off x="210553" y="733925"/>
            <a:ext cx="535405" cy="445169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BCCADD-0308-1AA5-EEBB-B4CD32493162}"/>
              </a:ext>
            </a:extLst>
          </p:cNvPr>
          <p:cNvSpPr txBox="1"/>
          <p:nvPr/>
        </p:nvSpPr>
        <p:spPr>
          <a:xfrm>
            <a:off x="745958" y="664121"/>
            <a:ext cx="240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+mj-ea"/>
                <a:ea typeface="+mj-ea"/>
              </a:rPr>
              <a:t>서론</a:t>
            </a: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626ACAF6-C3F9-5E1A-0CB9-17CF7BF4BB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9985682"/>
              </p:ext>
            </p:extLst>
          </p:nvPr>
        </p:nvGraphicFramePr>
        <p:xfrm>
          <a:off x="478255" y="1540774"/>
          <a:ext cx="6120000" cy="428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263DE9BA-0456-CB4B-106E-56C3D48BB8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6882529"/>
              </p:ext>
            </p:extLst>
          </p:nvPr>
        </p:nvGraphicFramePr>
        <p:xfrm>
          <a:off x="6389344" y="1540776"/>
          <a:ext cx="5324401" cy="395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A122B71-DC1A-8062-E824-609757CE4E14}"/>
              </a:ext>
            </a:extLst>
          </p:cNvPr>
          <p:cNvSpPr txBox="1"/>
          <p:nvPr/>
        </p:nvSpPr>
        <p:spPr>
          <a:xfrm>
            <a:off x="6517203" y="5307352"/>
            <a:ext cx="20582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58899E-24E9-F0F2-4E59-8920AD1F4BBC}"/>
              </a:ext>
            </a:extLst>
          </p:cNvPr>
          <p:cNvSpPr txBox="1"/>
          <p:nvPr/>
        </p:nvSpPr>
        <p:spPr>
          <a:xfrm>
            <a:off x="6993298" y="5410080"/>
            <a:ext cx="20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자료</a:t>
            </a:r>
            <a:r>
              <a:rPr lang="en-US" altLang="ko-KR" sz="1200" dirty="0"/>
              <a:t>: </a:t>
            </a:r>
            <a:r>
              <a:rPr lang="ko-KR" altLang="en-US" sz="1200" dirty="0"/>
              <a:t>동대신문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4ACD8-819F-44C8-FF58-7460E09BB780}"/>
              </a:ext>
            </a:extLst>
          </p:cNvPr>
          <p:cNvSpPr txBox="1"/>
          <p:nvPr/>
        </p:nvSpPr>
        <p:spPr>
          <a:xfrm>
            <a:off x="745958" y="5410080"/>
            <a:ext cx="20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자료</a:t>
            </a:r>
            <a:r>
              <a:rPr lang="en-US" altLang="ko-KR" sz="1200" dirty="0"/>
              <a:t>: </a:t>
            </a:r>
            <a:r>
              <a:rPr lang="ko-KR" altLang="en-US" sz="1200" dirty="0"/>
              <a:t>통계청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AE78E-4767-C0FF-2CEF-AE1ED4D88ABE}"/>
              </a:ext>
            </a:extLst>
          </p:cNvPr>
          <p:cNvSpPr txBox="1"/>
          <p:nvPr/>
        </p:nvSpPr>
        <p:spPr>
          <a:xfrm>
            <a:off x="210553" y="5899616"/>
            <a:ext cx="1177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배달음식 서비스와 택배 물동량 급증하면서 생활폐기물 배출량이 크게 증가     환경오염이 가속화됨</a:t>
            </a:r>
            <a:endParaRPr lang="en-US" altLang="ko-KR" sz="1400" dirty="0"/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쓰레기 재활용과 분리수거를 할 줄 모르고 잘 실천하지 않음     쓰레기 분리가 불완전해지고 재활용이 </a:t>
            </a:r>
            <a:r>
              <a:rPr lang="ko-KR" altLang="en-US" sz="1400" dirty="0" err="1"/>
              <a:t>어려워짐</a:t>
            </a:r>
            <a:endParaRPr lang="ko-KR" altLang="en-US" sz="1400" dirty="0"/>
          </a:p>
          <a:p>
            <a:pPr marL="285750" indent="-285750">
              <a:buFontTx/>
              <a:buChar char="-"/>
            </a:pPr>
            <a:endParaRPr lang="ko-KR" altLang="en-US" sz="14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DB44060-2A00-907C-4871-7C9F0C11ED8E}"/>
              </a:ext>
            </a:extLst>
          </p:cNvPr>
          <p:cNvCxnSpPr>
            <a:cxnSpLocks/>
          </p:cNvCxnSpPr>
          <p:nvPr/>
        </p:nvCxnSpPr>
        <p:spPr>
          <a:xfrm>
            <a:off x="5246289" y="6268994"/>
            <a:ext cx="189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07765EA-701F-AEE8-F30B-0308F6E3A0EA}"/>
              </a:ext>
            </a:extLst>
          </p:cNvPr>
          <p:cNvCxnSpPr>
            <a:cxnSpLocks/>
          </p:cNvCxnSpPr>
          <p:nvPr/>
        </p:nvCxnSpPr>
        <p:spPr>
          <a:xfrm>
            <a:off x="6503520" y="6042454"/>
            <a:ext cx="189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919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0F11D-0E1D-70E0-4421-70E68C47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945C1C3-6787-5DB0-6BD5-24BB7351D1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A512D9A4-C2B9-8787-8483-4F1A112F548A}"/>
              </a:ext>
            </a:extLst>
          </p:cNvPr>
          <p:cNvSpPr/>
          <p:nvPr/>
        </p:nvSpPr>
        <p:spPr>
          <a:xfrm>
            <a:off x="210553" y="733925"/>
            <a:ext cx="535405" cy="445169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656FD-EBE0-1ACC-F2E7-E4CB21741618}"/>
              </a:ext>
            </a:extLst>
          </p:cNvPr>
          <p:cNvSpPr txBox="1"/>
          <p:nvPr/>
        </p:nvSpPr>
        <p:spPr>
          <a:xfrm>
            <a:off x="745958" y="664121"/>
            <a:ext cx="4740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+mj-ea"/>
                <a:ea typeface="+mj-ea"/>
              </a:rPr>
              <a:t>학습 데이터 준비</a:t>
            </a:r>
          </a:p>
        </p:txBody>
      </p:sp>
      <p:pic>
        <p:nvPicPr>
          <p:cNvPr id="3074" name="Picture 2" descr="12시간 안에 끝내는 파이썬을 활용한 크롤링 강의 | 스마트인재캠퍼스 - 인프런">
            <a:extLst>
              <a:ext uri="{FF2B5EF4-FFF2-40B4-BE49-F238E27FC236}">
                <a16:creationId xmlns:a16="http://schemas.microsoft.com/office/drawing/2014/main" id="{BA918B4D-63B4-A536-8BB0-061927C1B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337" y="1990315"/>
            <a:ext cx="3107723" cy="255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5DEF74B1-A4EB-8DDE-5404-93EB3EAC83C4}"/>
              </a:ext>
            </a:extLst>
          </p:cNvPr>
          <p:cNvSpPr/>
          <p:nvPr/>
        </p:nvSpPr>
        <p:spPr>
          <a:xfrm>
            <a:off x="4232243" y="3091250"/>
            <a:ext cx="264695" cy="32333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1FD6A065-D27B-33CB-9526-9226D9C20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133" y="1990315"/>
            <a:ext cx="3107723" cy="255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50AB5F-F19D-4C04-14EB-4FD3484396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8941" y="1990315"/>
            <a:ext cx="3107722" cy="2554033"/>
          </a:xfrm>
          <a:prstGeom prst="rect">
            <a:avLst/>
          </a:prstGeom>
        </p:spPr>
      </p:pic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EE4403A-0714-A736-6A96-ED13BC39DE49}"/>
              </a:ext>
            </a:extLst>
          </p:cNvPr>
          <p:cNvSpPr/>
          <p:nvPr/>
        </p:nvSpPr>
        <p:spPr>
          <a:xfrm>
            <a:off x="7681255" y="3091249"/>
            <a:ext cx="284286" cy="32333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D5846648-22FA-2CCB-4903-45B4397EA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597" y="4269259"/>
            <a:ext cx="955589" cy="955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6ECDCA7-7DBD-370A-C2EB-387835086370}"/>
              </a:ext>
            </a:extLst>
          </p:cNvPr>
          <p:cNvCxnSpPr/>
          <p:nvPr/>
        </p:nvCxnSpPr>
        <p:spPr>
          <a:xfrm flipV="1">
            <a:off x="8122072" y="4320746"/>
            <a:ext cx="354227" cy="3707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952AB64-4A69-F58B-BA20-9EB45BAE3FA5}"/>
              </a:ext>
            </a:extLst>
          </p:cNvPr>
          <p:cNvSpPr txBox="1"/>
          <p:nvPr/>
        </p:nvSpPr>
        <p:spPr>
          <a:xfrm>
            <a:off x="2069383" y="4728515"/>
            <a:ext cx="143583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Web Crawling</a:t>
            </a:r>
            <a:endParaRPr lang="ko-KR" alt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F775BF-680B-3D73-4E68-B8B7850A000C}"/>
              </a:ext>
            </a:extLst>
          </p:cNvPr>
          <p:cNvSpPr txBox="1"/>
          <p:nvPr/>
        </p:nvSpPr>
        <p:spPr>
          <a:xfrm>
            <a:off x="8614932" y="4732636"/>
            <a:ext cx="187573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수집된 이미지 학습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3EDC7F-FAF5-8822-7490-D98F722C9914}"/>
              </a:ext>
            </a:extLst>
          </p:cNvPr>
          <p:cNvSpPr txBox="1"/>
          <p:nvPr/>
        </p:nvSpPr>
        <p:spPr>
          <a:xfrm>
            <a:off x="5165621" y="4732636"/>
            <a:ext cx="185674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/>
              <a:t>쓰레기 이미지 수집</a:t>
            </a:r>
            <a:endParaRPr lang="ko-KR" alt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C54922-3DCA-BBEC-8308-E89F507CD21D}"/>
              </a:ext>
            </a:extLst>
          </p:cNvPr>
          <p:cNvSpPr txBox="1"/>
          <p:nvPr/>
        </p:nvSpPr>
        <p:spPr>
          <a:xfrm>
            <a:off x="210553" y="5725297"/>
            <a:ext cx="11778916" cy="94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80" dirty="0">
                <a:latin typeface="+mj-lt"/>
              </a:rPr>
              <a:t>- </a:t>
            </a:r>
            <a:r>
              <a:rPr lang="ko-KR" altLang="en-US" sz="1380" dirty="0">
                <a:latin typeface="+mj-lt"/>
              </a:rPr>
              <a:t>다양한 쓰레기 이미지들을 </a:t>
            </a:r>
            <a:r>
              <a:rPr lang="en-US" altLang="ko-KR" sz="1380" dirty="0">
                <a:latin typeface="+mj-lt"/>
              </a:rPr>
              <a:t>Crawling    </a:t>
            </a:r>
            <a:r>
              <a:rPr lang="ko-KR" altLang="en-US" sz="1380" dirty="0">
                <a:latin typeface="+mj-lt"/>
              </a:rPr>
              <a:t>수집된 이미지는 크게 캔</a:t>
            </a:r>
            <a:r>
              <a:rPr lang="en-US" altLang="ko-KR" sz="1380" dirty="0">
                <a:latin typeface="+mj-lt"/>
              </a:rPr>
              <a:t>, </a:t>
            </a:r>
            <a:r>
              <a:rPr lang="ko-KR" altLang="en-US" sz="1380" dirty="0">
                <a:latin typeface="+mj-lt"/>
              </a:rPr>
              <a:t>페트병</a:t>
            </a:r>
            <a:r>
              <a:rPr lang="en-US" altLang="ko-KR" sz="1380" dirty="0">
                <a:latin typeface="+mj-lt"/>
              </a:rPr>
              <a:t>, </a:t>
            </a:r>
            <a:r>
              <a:rPr lang="ko-KR" altLang="en-US" sz="1380" dirty="0">
                <a:latin typeface="+mj-lt"/>
              </a:rPr>
              <a:t>유리병의 세 가지 카테고리로 구분하고 </a:t>
            </a:r>
            <a:r>
              <a:rPr lang="en-US" altLang="ko-KR" sz="1380" dirty="0">
                <a:latin typeface="+mj-lt"/>
              </a:rPr>
              <a:t>200</a:t>
            </a:r>
            <a:r>
              <a:rPr lang="ko-KR" altLang="en-US" sz="1380" dirty="0">
                <a:latin typeface="+mj-lt"/>
              </a:rPr>
              <a:t>개씩 총 </a:t>
            </a:r>
            <a:r>
              <a:rPr lang="en-US" altLang="ko-KR" sz="1380" dirty="0">
                <a:latin typeface="+mj-lt"/>
              </a:rPr>
              <a:t>600</a:t>
            </a:r>
            <a:r>
              <a:rPr lang="ko-KR" altLang="en-US" sz="1380" dirty="0">
                <a:latin typeface="+mj-lt"/>
              </a:rPr>
              <a:t>개의 데이터셋 구축</a:t>
            </a:r>
            <a:endParaRPr lang="en-US" altLang="ko-KR" sz="138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- </a:t>
            </a:r>
            <a:r>
              <a:rPr lang="ko-KR" altLang="en-US" sz="1400" dirty="0">
                <a:latin typeface="+mj-lt"/>
              </a:rPr>
              <a:t>수집된 이미지는 </a:t>
            </a:r>
            <a:r>
              <a:rPr lang="en-US" altLang="ko-KR" sz="1400" dirty="0"/>
              <a:t>Teachable Machine</a:t>
            </a:r>
            <a:r>
              <a:rPr lang="ko-KR" altLang="en-US" sz="1400" dirty="0">
                <a:latin typeface="+mj-lt"/>
              </a:rPr>
              <a:t>에 입력되어 </a:t>
            </a:r>
            <a:r>
              <a:rPr lang="en-US" altLang="ko-KR" sz="1400" dirty="0">
                <a:latin typeface="+mj-lt"/>
              </a:rPr>
              <a:t>AI</a:t>
            </a:r>
            <a:r>
              <a:rPr lang="ko-KR" altLang="en-US" sz="1400" dirty="0">
                <a:latin typeface="+mj-lt"/>
              </a:rPr>
              <a:t>모델 학습에 사용</a:t>
            </a:r>
          </a:p>
          <a:p>
            <a:pPr marL="285750" indent="-285750">
              <a:buFontTx/>
              <a:buChar char="-"/>
            </a:pPr>
            <a:endParaRPr lang="ko-KR" altLang="en-US" sz="1380" dirty="0">
              <a:latin typeface="+mj-lt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B1FEC9B-52AD-7FC7-3CBF-F7A760334C06}"/>
              </a:ext>
            </a:extLst>
          </p:cNvPr>
          <p:cNvCxnSpPr>
            <a:cxnSpLocks/>
          </p:cNvCxnSpPr>
          <p:nvPr/>
        </p:nvCxnSpPr>
        <p:spPr>
          <a:xfrm>
            <a:off x="3256852" y="5890054"/>
            <a:ext cx="189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421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EEEA4-BAFD-F334-D0CE-487AF6775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835CE77-613A-2E59-B854-67F7515BD4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39E94C59-BD6D-CA7A-40B0-732A866DEB44}"/>
              </a:ext>
            </a:extLst>
          </p:cNvPr>
          <p:cNvSpPr/>
          <p:nvPr/>
        </p:nvSpPr>
        <p:spPr>
          <a:xfrm>
            <a:off x="210553" y="733925"/>
            <a:ext cx="535405" cy="445169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A42C11-0459-9887-0200-212778B861F3}"/>
              </a:ext>
            </a:extLst>
          </p:cNvPr>
          <p:cNvSpPr txBox="1"/>
          <p:nvPr/>
        </p:nvSpPr>
        <p:spPr>
          <a:xfrm>
            <a:off x="745958" y="664121"/>
            <a:ext cx="8175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Teachable Machine </a:t>
            </a:r>
            <a:r>
              <a:rPr lang="ko-KR" altLang="en-US" sz="3200" b="1" dirty="0">
                <a:latin typeface="+mj-ea"/>
                <a:ea typeface="+mj-ea"/>
              </a:rPr>
              <a:t>기반 모델 학습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6B3F20-CD65-4C00-5902-E3F6F0940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58" y="1582311"/>
            <a:ext cx="3388202" cy="334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nsorflow.js">
            <a:extLst>
              <a:ext uri="{FF2B5EF4-FFF2-40B4-BE49-F238E27FC236}">
                <a16:creationId xmlns:a16="http://schemas.microsoft.com/office/drawing/2014/main" id="{60835857-FD52-2883-579D-B695A4FDA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993" y="1248896"/>
            <a:ext cx="2148016" cy="93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LASS101 + | 닮은 연예인 찾기 서비스 제작 With 티처블머신">
            <a:extLst>
              <a:ext uri="{FF2B5EF4-FFF2-40B4-BE49-F238E27FC236}">
                <a16:creationId xmlns:a16="http://schemas.microsoft.com/office/drawing/2014/main" id="{8C245DB2-14C0-0228-2ADB-D72B72FEF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1597" y="2269574"/>
            <a:ext cx="3144795" cy="26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asics of CNN in Deep Learning - Analytics Vidhya">
            <a:extLst>
              <a:ext uri="{FF2B5EF4-FFF2-40B4-BE49-F238E27FC236}">
                <a16:creationId xmlns:a16="http://schemas.microsoft.com/office/drawing/2014/main" id="{8D474B65-E745-230C-58F9-50AA9EEB1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839" y="1582311"/>
            <a:ext cx="3388203" cy="334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6926299-642C-39D7-7096-E84FE6A5FE47}"/>
              </a:ext>
            </a:extLst>
          </p:cNvPr>
          <p:cNvCxnSpPr/>
          <p:nvPr/>
        </p:nvCxnSpPr>
        <p:spPr>
          <a:xfrm>
            <a:off x="3896497" y="2446638"/>
            <a:ext cx="832022" cy="626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9ECF0EF-3E07-29BD-9A05-28080BEB29EF}"/>
              </a:ext>
            </a:extLst>
          </p:cNvPr>
          <p:cNvCxnSpPr/>
          <p:nvPr/>
        </p:nvCxnSpPr>
        <p:spPr>
          <a:xfrm>
            <a:off x="6093994" y="2034746"/>
            <a:ext cx="0" cy="626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C5F7601-96E2-6D23-58A1-2DB881EC3EAF}"/>
              </a:ext>
            </a:extLst>
          </p:cNvPr>
          <p:cNvCxnSpPr>
            <a:cxnSpLocks/>
          </p:cNvCxnSpPr>
          <p:nvPr/>
        </p:nvCxnSpPr>
        <p:spPr>
          <a:xfrm flipH="1">
            <a:off x="7223796" y="2446638"/>
            <a:ext cx="885191" cy="6260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7B7961-34D7-CB9C-0E00-EF279FBC5F81}"/>
              </a:ext>
            </a:extLst>
          </p:cNvPr>
          <p:cNvSpPr txBox="1"/>
          <p:nvPr/>
        </p:nvSpPr>
        <p:spPr>
          <a:xfrm>
            <a:off x="210553" y="5497255"/>
            <a:ext cx="11778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Teachable Machine</a:t>
            </a:r>
            <a:r>
              <a:rPr lang="ko-KR" altLang="en-US" sz="1400" dirty="0"/>
              <a:t>은 직관적인 인터페이스로 데이터를 수집</a:t>
            </a:r>
            <a:r>
              <a:rPr lang="en-US" altLang="ko-KR" sz="1400" dirty="0"/>
              <a:t>, </a:t>
            </a:r>
            <a:r>
              <a:rPr lang="ko-KR" altLang="en-US" sz="1400" dirty="0"/>
              <a:t>모델을 훈련 및 테스트 후 이를 웹이나 앱에 통합할 수 있음</a:t>
            </a:r>
            <a:endParaRPr lang="en-US" altLang="ko-KR" sz="1400" dirty="0"/>
          </a:p>
          <a:p>
            <a:r>
              <a:rPr lang="en-US" altLang="ko-KR" sz="1400" dirty="0"/>
              <a:t>- Supervised Learning     </a:t>
            </a:r>
            <a:r>
              <a:rPr lang="ko-KR" altLang="en-US" sz="1400" dirty="0"/>
              <a:t>사용자가 제공한 데이터를 기반으로 모델을 훈련함</a:t>
            </a:r>
            <a:endParaRPr lang="en-US" altLang="ko-KR" sz="1400" dirty="0"/>
          </a:p>
          <a:p>
            <a:r>
              <a:rPr lang="en-US" altLang="ko-KR" sz="1400" dirty="0"/>
              <a:t>- TensorFlow.js     </a:t>
            </a:r>
            <a:r>
              <a:rPr lang="ko-KR" altLang="en-US" sz="1400" dirty="0"/>
              <a:t>훈련된 모델을 웹에서 쉽게 사용할 수 있도록 함</a:t>
            </a:r>
            <a:endParaRPr lang="en-US" altLang="ko-KR" sz="1400" dirty="0"/>
          </a:p>
          <a:p>
            <a:r>
              <a:rPr lang="en-US" altLang="ko-KR" sz="1400" dirty="0"/>
              <a:t>- CNN     </a:t>
            </a:r>
            <a:r>
              <a:rPr lang="ko-KR" altLang="en-US" sz="1400" dirty="0"/>
              <a:t>이미지 내 특징을 자동으로 추출하고 학습하는 데 효과적</a:t>
            </a:r>
            <a:endParaRPr lang="en-US" altLang="ko-KR" sz="1400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AD9FE0A-209E-BB8A-F2E6-E389DB52F1BE}"/>
              </a:ext>
            </a:extLst>
          </p:cNvPr>
          <p:cNvCxnSpPr>
            <a:cxnSpLocks/>
          </p:cNvCxnSpPr>
          <p:nvPr/>
        </p:nvCxnSpPr>
        <p:spPr>
          <a:xfrm>
            <a:off x="2136506" y="5881816"/>
            <a:ext cx="189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FC57AC5-98D0-EAFA-16B2-3C25E72CD7C4}"/>
              </a:ext>
            </a:extLst>
          </p:cNvPr>
          <p:cNvCxnSpPr>
            <a:cxnSpLocks/>
          </p:cNvCxnSpPr>
          <p:nvPr/>
        </p:nvCxnSpPr>
        <p:spPr>
          <a:xfrm>
            <a:off x="1535144" y="6087761"/>
            <a:ext cx="189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41C346A-AD2B-D864-C980-6BFF43977862}"/>
              </a:ext>
            </a:extLst>
          </p:cNvPr>
          <p:cNvCxnSpPr>
            <a:cxnSpLocks/>
          </p:cNvCxnSpPr>
          <p:nvPr/>
        </p:nvCxnSpPr>
        <p:spPr>
          <a:xfrm>
            <a:off x="876116" y="6293708"/>
            <a:ext cx="1894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29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243A4-9620-AB81-3D7C-1989B922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343CFA5-A95B-0976-C29D-79C8434A8F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031C6D43-A9B5-805B-4E9F-455E587FF0A2}"/>
              </a:ext>
            </a:extLst>
          </p:cNvPr>
          <p:cNvSpPr/>
          <p:nvPr/>
        </p:nvSpPr>
        <p:spPr>
          <a:xfrm>
            <a:off x="210553" y="733925"/>
            <a:ext cx="535405" cy="445169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1D845-023A-58D3-2E82-E72C533FD8E8}"/>
              </a:ext>
            </a:extLst>
          </p:cNvPr>
          <p:cNvSpPr txBox="1"/>
          <p:nvPr/>
        </p:nvSpPr>
        <p:spPr>
          <a:xfrm>
            <a:off x="745958" y="664121"/>
            <a:ext cx="8101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+mj-ea"/>
                <a:ea typeface="+mj-ea"/>
              </a:rPr>
              <a:t>실시간 쓰레기 분류 시스템 연동 및 구현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1BB7AC5-E0B4-1A7E-F825-8EABA839C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918" y="1683193"/>
            <a:ext cx="8640000" cy="349161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4FDD8-AC8D-59BE-1C93-D47395B070D8}"/>
              </a:ext>
            </a:extLst>
          </p:cNvPr>
          <p:cNvSpPr txBox="1"/>
          <p:nvPr/>
        </p:nvSpPr>
        <p:spPr>
          <a:xfrm>
            <a:off x="210553" y="5725297"/>
            <a:ext cx="11778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lt"/>
              </a:rPr>
              <a:t>- Arduino</a:t>
            </a:r>
            <a:r>
              <a:rPr lang="ko-KR" altLang="en-US" sz="1400" dirty="0">
                <a:latin typeface="+mj-lt"/>
              </a:rPr>
              <a:t>와 </a:t>
            </a:r>
            <a:r>
              <a:rPr lang="en-US" altLang="ko-KR" sz="1400" dirty="0"/>
              <a:t>Teachable Machine</a:t>
            </a:r>
            <a:r>
              <a:rPr lang="ko-KR" altLang="en-US" sz="1400" dirty="0">
                <a:latin typeface="+mj-lt"/>
              </a:rPr>
              <a:t>간의 연결 도구로 </a:t>
            </a:r>
            <a:r>
              <a:rPr lang="en-US" altLang="ko-KR" sz="1400" dirty="0">
                <a:latin typeface="+mj-lt"/>
              </a:rPr>
              <a:t>p5.js</a:t>
            </a:r>
            <a:r>
              <a:rPr lang="ko-KR" altLang="en-US" sz="1400" dirty="0">
                <a:latin typeface="+mj-lt"/>
              </a:rPr>
              <a:t>를 선택</a:t>
            </a:r>
            <a:endParaRPr lang="en-US" altLang="ko-KR" sz="140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- p5.js</a:t>
            </a:r>
            <a:r>
              <a:rPr lang="ko-KR" altLang="en-US" sz="1400" dirty="0">
                <a:latin typeface="+mj-lt"/>
              </a:rPr>
              <a:t>는 실시간 데이터 시각화와 사용자 피드백 수집을 담당하는 역할을 하고 웹 기반의 환경에서 사용자가 제공하는 피드백을 실시간으로 처리할 수 있게 함</a:t>
            </a:r>
            <a:endParaRPr lang="en-US" altLang="ko-KR" sz="140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- p5.js</a:t>
            </a:r>
            <a:r>
              <a:rPr lang="ko-KR" altLang="en-US" sz="1400" dirty="0">
                <a:latin typeface="+mj-lt"/>
              </a:rPr>
              <a:t>는 </a:t>
            </a:r>
            <a:r>
              <a:rPr lang="en-US" altLang="ko-KR" sz="1400" dirty="0">
                <a:latin typeface="+mj-lt"/>
              </a:rPr>
              <a:t>Arduino</a:t>
            </a:r>
            <a:r>
              <a:rPr lang="ko-KR" altLang="en-US" sz="1400" dirty="0">
                <a:latin typeface="+mj-lt"/>
              </a:rPr>
              <a:t>와의 양방향 통신을 가능하게 하여 </a:t>
            </a:r>
            <a:r>
              <a:rPr lang="en-US" altLang="ko-KR" sz="1400" dirty="0"/>
              <a:t>Teachable Machine</a:t>
            </a:r>
            <a:r>
              <a:rPr lang="ko-KR" altLang="en-US" sz="1400" dirty="0">
                <a:latin typeface="+mj-lt"/>
              </a:rPr>
              <a:t>에서 학습된 모델을 기반으로 분류된 쓰레기의 결과를 </a:t>
            </a:r>
            <a:r>
              <a:rPr lang="en-US" altLang="ko-KR" sz="1400" dirty="0">
                <a:latin typeface="+mj-lt"/>
              </a:rPr>
              <a:t>Arduino</a:t>
            </a:r>
            <a:r>
              <a:rPr lang="ko-KR" altLang="en-US" sz="1400" dirty="0">
                <a:latin typeface="+mj-lt"/>
              </a:rPr>
              <a:t>에 전달함</a:t>
            </a:r>
            <a:endParaRPr lang="ko-KR" altLang="en-US" sz="138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839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001D-408F-ECC3-1ACE-C5DBF1D6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DDFB071-F21F-17F5-CAFC-F563B576D0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046EAD5F-73DF-830D-45BF-9379F9D200A3}"/>
              </a:ext>
            </a:extLst>
          </p:cNvPr>
          <p:cNvSpPr/>
          <p:nvPr/>
        </p:nvSpPr>
        <p:spPr>
          <a:xfrm>
            <a:off x="210553" y="733925"/>
            <a:ext cx="535405" cy="445169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B118C-8BB6-5D69-59F7-F607D3F4EF87}"/>
              </a:ext>
            </a:extLst>
          </p:cNvPr>
          <p:cNvSpPr txBox="1"/>
          <p:nvPr/>
        </p:nvSpPr>
        <p:spPr>
          <a:xfrm>
            <a:off x="745957" y="664121"/>
            <a:ext cx="25327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latin typeface="+mj-ea"/>
                <a:ea typeface="+mj-ea"/>
              </a:rPr>
              <a:t>실험 및 결과</a:t>
            </a:r>
            <a:endParaRPr lang="ko-KR" altLang="en-US" sz="3200" b="1" dirty="0">
              <a:latin typeface="+mj-ea"/>
              <a:ea typeface="+mj-ea"/>
            </a:endParaRPr>
          </a:p>
        </p:txBody>
      </p:sp>
      <p:pic>
        <p:nvPicPr>
          <p:cNvPr id="2" name="Picture 0">
            <a:extLst>
              <a:ext uri="{FF2B5EF4-FFF2-40B4-BE49-F238E27FC236}">
                <a16:creationId xmlns:a16="http://schemas.microsoft.com/office/drawing/2014/main" id="{9D9EF149-BDB3-26E0-80C2-8F5396D44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95" y="1563482"/>
            <a:ext cx="8640000" cy="37310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71776E-E8B3-59CC-C7FD-0958B22D42EC}"/>
              </a:ext>
            </a:extLst>
          </p:cNvPr>
          <p:cNvSpPr txBox="1"/>
          <p:nvPr/>
        </p:nvSpPr>
        <p:spPr>
          <a:xfrm>
            <a:off x="210553" y="5725297"/>
            <a:ext cx="1177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lt"/>
              </a:rPr>
              <a:t>- </a:t>
            </a:r>
            <a:r>
              <a:rPr lang="ko-KR" altLang="en-US" sz="1400" dirty="0">
                <a:latin typeface="+mj-lt"/>
              </a:rPr>
              <a:t>학습된 모델은 </a:t>
            </a:r>
            <a:r>
              <a:rPr lang="en-US" altLang="ko-KR" sz="1400" dirty="0">
                <a:latin typeface="+mj-lt"/>
              </a:rPr>
              <a:t>p5.js</a:t>
            </a:r>
            <a:r>
              <a:rPr lang="ko-KR" altLang="en-US" sz="1400" dirty="0">
                <a:latin typeface="+mj-lt"/>
              </a:rPr>
              <a:t>를 통해 </a:t>
            </a:r>
            <a:r>
              <a:rPr lang="en-US" altLang="ko-KR" sz="1400" dirty="0">
                <a:latin typeface="+mj-lt"/>
              </a:rPr>
              <a:t>Arduino</a:t>
            </a:r>
            <a:r>
              <a:rPr lang="ko-KR" altLang="en-US" sz="1400" dirty="0">
                <a:latin typeface="+mj-lt"/>
              </a:rPr>
              <a:t>에 연동되어 자동 쓰레기 분류 시스템을 실현함</a:t>
            </a:r>
            <a:endParaRPr lang="en-US" altLang="ko-KR" sz="140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- Arduino</a:t>
            </a:r>
            <a:r>
              <a:rPr lang="ko-KR" altLang="en-US" sz="1400" dirty="0">
                <a:latin typeface="+mj-lt"/>
              </a:rPr>
              <a:t>는 분류 결과에 따라 모터를 제어하여 쓰레기를 각기 다른 수거함으로 분리함</a:t>
            </a:r>
            <a:endParaRPr lang="en-US" altLang="ko-KR" sz="140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- </a:t>
            </a:r>
            <a:r>
              <a:rPr lang="ko-KR" altLang="en-US" sz="1400" dirty="0">
                <a:latin typeface="+mj-lt"/>
              </a:rPr>
              <a:t>시스템에는 </a:t>
            </a:r>
            <a:r>
              <a:rPr lang="en-US" altLang="ko-KR" sz="1400" dirty="0">
                <a:latin typeface="+mj-lt"/>
              </a:rPr>
              <a:t>3</a:t>
            </a:r>
            <a:r>
              <a:rPr lang="ko-KR" altLang="en-US" sz="1400" dirty="0">
                <a:latin typeface="+mj-lt"/>
              </a:rPr>
              <a:t>색 </a:t>
            </a:r>
            <a:r>
              <a:rPr lang="en-US" altLang="ko-KR" sz="1400" dirty="0">
                <a:latin typeface="+mj-lt"/>
              </a:rPr>
              <a:t>LED</a:t>
            </a:r>
            <a:r>
              <a:rPr lang="ko-KR" altLang="en-US" sz="1400" dirty="0">
                <a:latin typeface="+mj-lt"/>
              </a:rPr>
              <a:t>가 장착되어 있어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사용자가 캔을 투입하면 초록색</a:t>
            </a:r>
            <a:r>
              <a:rPr lang="en-US" altLang="ko-KR" sz="1400" dirty="0">
                <a:latin typeface="+mj-lt"/>
              </a:rPr>
              <a:t>LED</a:t>
            </a:r>
            <a:r>
              <a:rPr lang="ko-KR" altLang="en-US" sz="1400" dirty="0">
                <a:latin typeface="+mj-lt"/>
              </a:rPr>
              <a:t>가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페트병은 빨간색</a:t>
            </a:r>
            <a:r>
              <a:rPr lang="en-US" altLang="ko-KR" sz="1400" dirty="0">
                <a:latin typeface="+mj-lt"/>
              </a:rPr>
              <a:t> LED</a:t>
            </a:r>
            <a:r>
              <a:rPr lang="ko-KR" altLang="en-US" sz="1400" dirty="0">
                <a:latin typeface="+mj-lt"/>
              </a:rPr>
              <a:t>가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유리병은 노란색 </a:t>
            </a:r>
            <a:r>
              <a:rPr lang="en-US" altLang="ko-KR" sz="1400" dirty="0">
                <a:latin typeface="+mj-lt"/>
              </a:rPr>
              <a:t>LED</a:t>
            </a:r>
            <a:r>
              <a:rPr lang="ko-KR" altLang="en-US" sz="1400" dirty="0">
                <a:latin typeface="+mj-lt"/>
              </a:rPr>
              <a:t>가 켜지도록 설계됨</a:t>
            </a:r>
          </a:p>
        </p:txBody>
      </p:sp>
    </p:spTree>
    <p:extLst>
      <p:ext uri="{BB962C8B-B14F-4D97-AF65-F5344CB8AC3E}">
        <p14:creationId xmlns:p14="http://schemas.microsoft.com/office/powerpoint/2010/main" val="208338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7A81C-92F7-4E43-B463-39E7841CE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CA709C3-9A8E-F6CA-6E27-293EA3975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6AAF9C97-89B1-37BC-C554-2638610D2490}"/>
              </a:ext>
            </a:extLst>
          </p:cNvPr>
          <p:cNvSpPr/>
          <p:nvPr/>
        </p:nvSpPr>
        <p:spPr>
          <a:xfrm>
            <a:off x="210553" y="733925"/>
            <a:ext cx="535405" cy="445169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661A44-1693-31B5-2F38-561D54B70518}"/>
              </a:ext>
            </a:extLst>
          </p:cNvPr>
          <p:cNvSpPr txBox="1"/>
          <p:nvPr/>
        </p:nvSpPr>
        <p:spPr>
          <a:xfrm>
            <a:off x="745957" y="664121"/>
            <a:ext cx="2557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>
                <a:latin typeface="+mj-ea"/>
                <a:ea typeface="+mj-ea"/>
              </a:rPr>
              <a:t>실험 및 결과</a:t>
            </a:r>
            <a:endParaRPr lang="ko-KR" altLang="en-US" sz="3200" b="1" dirty="0">
              <a:latin typeface="+mj-ea"/>
              <a:ea typeface="+mj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8AAB8C-E7F2-5CCD-B3CC-8EDB30909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99107"/>
              </p:ext>
            </p:extLst>
          </p:nvPr>
        </p:nvGraphicFramePr>
        <p:xfrm>
          <a:off x="1865640" y="2145158"/>
          <a:ext cx="8456710" cy="2567683"/>
        </p:xfrm>
        <a:graphic>
          <a:graphicData uri="http://schemas.openxmlformats.org/drawingml/2006/table">
            <a:tbl>
              <a:tblPr/>
              <a:tblGrid>
                <a:gridCol w="2658855">
                  <a:extLst>
                    <a:ext uri="{9D8B030D-6E8A-4147-A177-3AD203B41FA5}">
                      <a16:colId xmlns:a16="http://schemas.microsoft.com/office/drawing/2014/main" val="864297848"/>
                    </a:ext>
                  </a:extLst>
                </a:gridCol>
                <a:gridCol w="2657049">
                  <a:extLst>
                    <a:ext uri="{9D8B030D-6E8A-4147-A177-3AD203B41FA5}">
                      <a16:colId xmlns:a16="http://schemas.microsoft.com/office/drawing/2014/main" val="3327630620"/>
                    </a:ext>
                  </a:extLst>
                </a:gridCol>
                <a:gridCol w="3140806">
                  <a:extLst>
                    <a:ext uri="{9D8B030D-6E8A-4147-A177-3AD203B41FA5}">
                      <a16:colId xmlns:a16="http://schemas.microsoft.com/office/drawing/2014/main" val="889171630"/>
                    </a:ext>
                  </a:extLst>
                </a:gridCol>
              </a:tblGrid>
              <a:tr h="6629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</a:pPr>
                      <a:r>
                        <a:rPr lang="en-US" sz="15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Class</a:t>
                      </a: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780" marR="1778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</a:pPr>
                      <a:r>
                        <a:rPr lang="en-US" sz="1500" b="1" kern="0" spc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Quantity</a:t>
                      </a:r>
                      <a:endParaRPr lang="en-US" sz="1500" kern="0" spc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</a:pPr>
                      <a:r>
                        <a:rPr lang="en-US" sz="1500" b="1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Accuracy</a:t>
                      </a:r>
                      <a:endParaRPr lang="en-US" sz="1500" kern="0" spc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763333"/>
                  </a:ext>
                </a:extLst>
              </a:tr>
              <a:tr h="6349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Pet</a:t>
                      </a:r>
                    </a:p>
                  </a:txBody>
                  <a:tcPr marL="17780" marR="1778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</a:t>
                      </a: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98%</a:t>
                      </a: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362836"/>
                  </a:ext>
                </a:extLst>
              </a:tr>
              <a:tr h="6349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Can</a:t>
                      </a:r>
                    </a:p>
                  </a:txBody>
                  <a:tcPr marL="17780" marR="1778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</a:t>
                      </a: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98%</a:t>
                      </a: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539757"/>
                  </a:ext>
                </a:extLst>
              </a:tr>
              <a:tr h="6349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Glass</a:t>
                      </a:r>
                    </a:p>
                  </a:txBody>
                  <a:tcPr marL="17780" marR="17780" marT="17780" marB="1778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</a:t>
                      </a: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</a:pPr>
                      <a:r>
                        <a:rPr lang="en-US" sz="1500" kern="0" spc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96%</a:t>
                      </a:r>
                    </a:p>
                  </a:txBody>
                  <a:tcPr marL="17780" marR="17780" marT="17780" marB="1778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96769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0E326088-2F37-389C-8D0B-53297B4AB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5829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78062-6FA0-A161-B63B-C045AB123916}"/>
              </a:ext>
            </a:extLst>
          </p:cNvPr>
          <p:cNvSpPr txBox="1"/>
          <p:nvPr/>
        </p:nvSpPr>
        <p:spPr>
          <a:xfrm>
            <a:off x="210553" y="5725297"/>
            <a:ext cx="11778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lt"/>
              </a:rPr>
              <a:t>-</a:t>
            </a:r>
            <a:r>
              <a:rPr lang="ko-KR" altLang="en-US" sz="1400" dirty="0">
                <a:latin typeface="+mj-lt"/>
              </a:rPr>
              <a:t> </a:t>
            </a:r>
            <a:r>
              <a:rPr lang="en-US" altLang="ko-KR" sz="1400" dirty="0"/>
              <a:t>Teachable Machine</a:t>
            </a:r>
            <a:r>
              <a:rPr lang="ko-KR" altLang="en-US" sz="1400" dirty="0">
                <a:latin typeface="+mj-lt"/>
              </a:rPr>
              <a:t>을 활용하여 만든 자동 쓰레기 분리수거기는 페트병 </a:t>
            </a:r>
            <a:r>
              <a:rPr lang="en-US" altLang="ko-KR" sz="1400" dirty="0">
                <a:latin typeface="+mj-lt"/>
              </a:rPr>
              <a:t>98%, </a:t>
            </a:r>
            <a:r>
              <a:rPr lang="ko-KR" altLang="en-US" sz="1400" dirty="0">
                <a:latin typeface="+mj-lt"/>
              </a:rPr>
              <a:t>캔 </a:t>
            </a:r>
            <a:r>
              <a:rPr lang="en-US" altLang="ko-KR" sz="1400" dirty="0">
                <a:latin typeface="+mj-lt"/>
              </a:rPr>
              <a:t>98%, </a:t>
            </a:r>
            <a:r>
              <a:rPr lang="ko-KR" altLang="en-US" sz="1400" dirty="0">
                <a:latin typeface="+mj-lt"/>
              </a:rPr>
              <a:t>유리병 </a:t>
            </a:r>
            <a:r>
              <a:rPr lang="en-US" altLang="ko-KR" sz="1400" dirty="0">
                <a:latin typeface="+mj-lt"/>
              </a:rPr>
              <a:t>96%</a:t>
            </a:r>
            <a:r>
              <a:rPr lang="ko-KR" altLang="en-US" sz="1400" dirty="0">
                <a:latin typeface="+mj-lt"/>
              </a:rPr>
              <a:t>의 정확도를 기록함</a:t>
            </a:r>
            <a:endParaRPr lang="en-US" altLang="ko-KR" sz="140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- </a:t>
            </a:r>
            <a:r>
              <a:rPr lang="ko-KR" altLang="en-US" sz="1400" dirty="0">
                <a:latin typeface="+mj-lt"/>
              </a:rPr>
              <a:t>시스템의 전반적인 분류 정확도는 평균 </a:t>
            </a:r>
            <a:r>
              <a:rPr lang="en-US" altLang="ko-KR" sz="1400" dirty="0">
                <a:latin typeface="+mj-lt"/>
              </a:rPr>
              <a:t>97%</a:t>
            </a:r>
            <a:r>
              <a:rPr lang="ko-KR" altLang="en-US" sz="1400" dirty="0">
                <a:latin typeface="+mj-lt"/>
              </a:rPr>
              <a:t>를 상회함</a:t>
            </a:r>
          </a:p>
        </p:txBody>
      </p:sp>
    </p:spTree>
    <p:extLst>
      <p:ext uri="{BB962C8B-B14F-4D97-AF65-F5344CB8AC3E}">
        <p14:creationId xmlns:p14="http://schemas.microsoft.com/office/powerpoint/2010/main" val="3527971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5AA7-2635-5BDE-2028-A4E319C8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19F92EC-879D-F78F-1283-8AA2DE0471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latin typeface="+mj-lt"/>
              </a:rPr>
              <a:t>Teachable Machine</a:t>
            </a:r>
            <a:endParaRPr lang="ko-KR" altLang="en-US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51C5664B-7A21-40C9-CEBE-A0D5A3E0567D}"/>
              </a:ext>
            </a:extLst>
          </p:cNvPr>
          <p:cNvSpPr/>
          <p:nvPr/>
        </p:nvSpPr>
        <p:spPr>
          <a:xfrm>
            <a:off x="210553" y="733925"/>
            <a:ext cx="535405" cy="445169"/>
          </a:xfrm>
          <a:prstGeom prst="chevron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7299AD-9366-77F1-B5EB-C0F815211082}"/>
              </a:ext>
            </a:extLst>
          </p:cNvPr>
          <p:cNvSpPr txBox="1"/>
          <p:nvPr/>
        </p:nvSpPr>
        <p:spPr>
          <a:xfrm>
            <a:off x="745958" y="664121"/>
            <a:ext cx="240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latin typeface="+mj-ea"/>
                <a:ea typeface="+mj-ea"/>
              </a:rPr>
              <a:t>결론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4B5FE3-8267-477F-4080-6D59A203ED9A}"/>
              </a:ext>
            </a:extLst>
          </p:cNvPr>
          <p:cNvSpPr txBox="1"/>
          <p:nvPr/>
        </p:nvSpPr>
        <p:spPr>
          <a:xfrm>
            <a:off x="198521" y="2205875"/>
            <a:ext cx="11778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lt"/>
              </a:rPr>
              <a:t>- </a:t>
            </a:r>
            <a:r>
              <a:rPr lang="ko-KR" altLang="en-US" sz="1400" dirty="0">
                <a:latin typeface="+mj-lt"/>
              </a:rPr>
              <a:t>본</a:t>
            </a:r>
            <a:r>
              <a:rPr lang="en-US" altLang="ko-KR" sz="1400" dirty="0">
                <a:latin typeface="+mj-lt"/>
              </a:rPr>
              <a:t> </a:t>
            </a:r>
            <a:r>
              <a:rPr lang="ko-KR" altLang="en-US" sz="1400" dirty="0">
                <a:latin typeface="+mj-lt"/>
              </a:rPr>
              <a:t>논문에서는 </a:t>
            </a:r>
            <a:r>
              <a:rPr lang="en-US" altLang="ko-KR" sz="1400" dirty="0">
                <a:latin typeface="+mj-lt"/>
              </a:rPr>
              <a:t>Teachable Machine</a:t>
            </a:r>
            <a:r>
              <a:rPr lang="ko-KR" altLang="en-US" sz="1400" dirty="0">
                <a:latin typeface="+mj-lt"/>
              </a:rPr>
              <a:t>과 </a:t>
            </a:r>
            <a:r>
              <a:rPr lang="en-US" altLang="ko-KR" sz="1400" dirty="0">
                <a:latin typeface="+mj-lt"/>
              </a:rPr>
              <a:t>Arduino </a:t>
            </a:r>
            <a:r>
              <a:rPr lang="ko-KR" altLang="en-US" sz="1400" dirty="0">
                <a:latin typeface="+mj-lt"/>
              </a:rPr>
              <a:t>기술을 결합하여 쓰레기 분리와 재활용 과정의 효율성을 높이는 자동 쓰레기 분리수거 시스템을 구현함</a:t>
            </a:r>
            <a:endParaRPr lang="en-US" altLang="ko-KR" sz="140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- Teachable Machine</a:t>
            </a:r>
            <a:r>
              <a:rPr lang="ko-KR" altLang="en-US" sz="1400" dirty="0">
                <a:latin typeface="+mj-lt"/>
              </a:rPr>
              <a:t>을</a:t>
            </a:r>
            <a:r>
              <a:rPr lang="en-US" altLang="ko-KR" sz="1400" dirty="0">
                <a:latin typeface="+mj-lt"/>
              </a:rPr>
              <a:t> </a:t>
            </a:r>
            <a:r>
              <a:rPr lang="ko-KR" altLang="en-US" sz="1400" dirty="0">
                <a:latin typeface="+mj-lt"/>
              </a:rPr>
              <a:t>활용한 학습 모델은 페트병</a:t>
            </a:r>
            <a:r>
              <a:rPr lang="en-US" altLang="ko-KR" sz="1400" dirty="0">
                <a:latin typeface="+mj-lt"/>
              </a:rPr>
              <a:t> 98%, </a:t>
            </a:r>
            <a:r>
              <a:rPr lang="ko-KR" altLang="en-US" sz="1400" dirty="0">
                <a:latin typeface="+mj-lt"/>
              </a:rPr>
              <a:t>캔 </a:t>
            </a:r>
            <a:r>
              <a:rPr lang="en-US" altLang="ko-KR" sz="1400" dirty="0">
                <a:latin typeface="+mj-lt"/>
              </a:rPr>
              <a:t>98%, </a:t>
            </a:r>
            <a:r>
              <a:rPr lang="ko-KR" altLang="en-US" sz="1400" dirty="0">
                <a:latin typeface="+mj-lt"/>
              </a:rPr>
              <a:t>유리병 </a:t>
            </a:r>
            <a:r>
              <a:rPr lang="en-US" altLang="ko-KR" sz="1400" dirty="0">
                <a:latin typeface="+mj-lt"/>
              </a:rPr>
              <a:t>96%</a:t>
            </a:r>
            <a:r>
              <a:rPr lang="ko-KR" altLang="en-US" sz="1400" dirty="0">
                <a:latin typeface="+mj-lt"/>
              </a:rPr>
              <a:t>로 실제 사용 가능한 수준의 분류 정확도를 달성함</a:t>
            </a:r>
            <a:endParaRPr lang="en-US" altLang="ko-KR" sz="140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- P5.js</a:t>
            </a:r>
            <a:r>
              <a:rPr lang="ko-KR" altLang="en-US" sz="1400" dirty="0">
                <a:latin typeface="+mj-lt"/>
              </a:rPr>
              <a:t>와 </a:t>
            </a:r>
            <a:r>
              <a:rPr lang="en-US" altLang="ko-KR" sz="1400" dirty="0">
                <a:latin typeface="+mj-lt"/>
              </a:rPr>
              <a:t>Arduino</a:t>
            </a:r>
            <a:r>
              <a:rPr lang="ko-KR" altLang="en-US" sz="1400" dirty="0">
                <a:latin typeface="+mj-lt"/>
              </a:rPr>
              <a:t>의 연동을 통해 모터를 제어하여 시스템의 자동화 실현 및 </a:t>
            </a:r>
            <a:r>
              <a:rPr lang="en-US" altLang="ko-KR" sz="1400" dirty="0">
                <a:latin typeface="+mj-lt"/>
              </a:rPr>
              <a:t>LED </a:t>
            </a:r>
            <a:r>
              <a:rPr lang="ko-KR" altLang="en-US" sz="1400" dirty="0">
                <a:latin typeface="+mj-lt"/>
              </a:rPr>
              <a:t>모듈로 사용자에게 직관적인 피드백을 제공함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AD4635-B9B5-C6D2-F8DC-5FF8773276CF}"/>
              </a:ext>
            </a:extLst>
          </p:cNvPr>
          <p:cNvSpPr txBox="1"/>
          <p:nvPr/>
        </p:nvSpPr>
        <p:spPr>
          <a:xfrm>
            <a:off x="198521" y="4116961"/>
            <a:ext cx="11778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j-lt"/>
              </a:rPr>
              <a:t>- </a:t>
            </a:r>
            <a:r>
              <a:rPr lang="ko-KR" altLang="en-US" sz="1400" dirty="0">
                <a:latin typeface="+mj-lt"/>
              </a:rPr>
              <a:t>향후 연구에서는 추가적인 데이터 학습과 시스템 최적화를 통해 더욱 다양한 쓰레기 유형을 처리할 수 있도록 개선하고자 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EE54D1-D6B4-C837-327B-D2157FE8CABB}"/>
              </a:ext>
            </a:extLst>
          </p:cNvPr>
          <p:cNvSpPr txBox="1"/>
          <p:nvPr/>
        </p:nvSpPr>
        <p:spPr>
          <a:xfrm>
            <a:off x="210553" y="1682655"/>
            <a:ext cx="2407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  <a:ea typeface="+mj-ea"/>
              </a:rPr>
              <a:t>요약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AC884-D87D-4656-2BD8-552DD71F50DD}"/>
              </a:ext>
            </a:extLst>
          </p:cNvPr>
          <p:cNvSpPr txBox="1"/>
          <p:nvPr/>
        </p:nvSpPr>
        <p:spPr>
          <a:xfrm>
            <a:off x="198521" y="3590870"/>
            <a:ext cx="240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향후 계획</a:t>
            </a:r>
          </a:p>
        </p:txBody>
      </p:sp>
    </p:spTree>
    <p:extLst>
      <p:ext uri="{BB962C8B-B14F-4D97-AF65-F5344CB8AC3E}">
        <p14:creationId xmlns:p14="http://schemas.microsoft.com/office/powerpoint/2010/main" val="300581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598FB-63D0-4BE8-DFED-458232B7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17F2E0D-84DB-79B5-E815-0836638CCB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521" y="168442"/>
            <a:ext cx="11790948" cy="65030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bg1"/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85D28D-A4ED-C461-D39A-50B16E5CDF03}"/>
              </a:ext>
            </a:extLst>
          </p:cNvPr>
          <p:cNvSpPr txBox="1"/>
          <p:nvPr/>
        </p:nvSpPr>
        <p:spPr>
          <a:xfrm>
            <a:off x="3198395" y="2958311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/>
              <a:t>감사합니다</a:t>
            </a:r>
            <a:r>
              <a:rPr lang="en-US" altLang="ko-KR" sz="5400" dirty="0"/>
              <a:t>!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122750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2A8194D45DEFB478392B8B26C0B89A2" ma:contentTypeVersion="5" ma:contentTypeDescription="새 문서를 만듭니다." ma:contentTypeScope="" ma:versionID="6065857ff207c2549d0b8a50aa1a890a">
  <xsd:schema xmlns:xsd="http://www.w3.org/2001/XMLSchema" xmlns:xs="http://www.w3.org/2001/XMLSchema" xmlns:p="http://schemas.microsoft.com/office/2006/metadata/properties" xmlns:ns3="d52f2a39-da31-4d15-a787-754dafcc778c" targetNamespace="http://schemas.microsoft.com/office/2006/metadata/properties" ma:root="true" ma:fieldsID="ae3e1161957db36c35981edd9154de51" ns3:_="">
    <xsd:import namespace="d52f2a39-da31-4d15-a787-754dafcc778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2f2a39-da31-4d15-a787-754dafcc778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AEC471-54A3-4DDD-80CF-A39D81206D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2f2a39-da31-4d15-a787-754dafcc77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3DCDDC-3DFD-4F97-84CE-4BBDA1A0CE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BF756F-E89D-4FB9-A6D7-086C33765C42}">
  <ds:schemaRefs>
    <ds:schemaRef ds:uri="http://schemas.microsoft.com/office/2006/metadata/properties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d52f2a39-da31-4d15-a787-754dafcc778c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744</TotalTime>
  <Words>534</Words>
  <Application>Microsoft Office PowerPoint</Application>
  <PresentationFormat>와이드스크린</PresentationFormat>
  <Paragraphs>97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KiJunsung</dc:creator>
  <cp:lastModifiedBy>호연 김</cp:lastModifiedBy>
  <cp:revision>69</cp:revision>
  <dcterms:created xsi:type="dcterms:W3CDTF">2024-11-27T09:46:37Z</dcterms:created>
  <dcterms:modified xsi:type="dcterms:W3CDTF">2024-11-28T03:44:27Z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0x01010002A8194D45DEFB478392B8B26C0B89A2</vt:lpwstr>
  </property>
</Properties>
</file>